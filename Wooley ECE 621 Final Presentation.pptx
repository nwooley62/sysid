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8" r:id="rId1"/>
  </p:sldMasterIdLst>
  <p:notesMasterIdLst>
    <p:notesMasterId r:id="rId9"/>
  </p:notesMasterIdLst>
  <p:sldIdLst>
    <p:sldId id="276" r:id="rId2"/>
    <p:sldId id="269" r:id="rId3"/>
    <p:sldId id="274" r:id="rId4"/>
    <p:sldId id="271" r:id="rId5"/>
    <p:sldId id="273" r:id="rId6"/>
    <p:sldId id="279" r:id="rId7"/>
    <p:sldId id="275" r:id="rId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charset="0"/>
        <a:ea typeface="ＭＳ Ｐゴシック" pitchFamily="1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charset="0"/>
        <a:ea typeface="ＭＳ Ｐゴシック" pitchFamily="1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charset="0"/>
        <a:ea typeface="ＭＳ Ｐゴシック" pitchFamily="1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charset="0"/>
        <a:ea typeface="ＭＳ Ｐゴシック" pitchFamily="1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sz="2400" kern="1200" baseline="-25000">
        <a:solidFill>
          <a:schemeClr val="tx1"/>
        </a:solidFill>
        <a:latin typeface="Arial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sz="2400" kern="1200" baseline="-25000">
        <a:solidFill>
          <a:schemeClr val="tx1"/>
        </a:solidFill>
        <a:latin typeface="Arial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sz="2400" kern="1200" baseline="-25000">
        <a:solidFill>
          <a:schemeClr val="tx1"/>
        </a:solidFill>
        <a:latin typeface="Arial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sz="2400" kern="1200" baseline="-25000">
        <a:solidFill>
          <a:schemeClr val="tx1"/>
        </a:solidFill>
        <a:latin typeface="Arial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39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20" autoAdjust="0"/>
    <p:restoredTop sz="94660" autoAdjust="0"/>
  </p:normalViewPr>
  <p:slideViewPr>
    <p:cSldViewPr snapToGrid="0">
      <p:cViewPr varScale="1">
        <p:scale>
          <a:sx n="103" d="100"/>
          <a:sy n="103" d="100"/>
        </p:scale>
        <p:origin x="132" y="12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pPr>
              <a:defRPr/>
            </a:pPr>
            <a:fld id="{BF9AE268-8210-4758-8100-2936EEB194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35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BA69F4-C421-42C2-A873-790FBB7D4080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925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819401"/>
            <a:ext cx="7772400" cy="785446"/>
          </a:xfrm>
        </p:spPr>
        <p:txBody>
          <a:bodyPr anchor="b">
            <a:normAutofit/>
          </a:bodyPr>
          <a:lstStyle>
            <a:lvl1pPr algn="ctr">
              <a:defRPr sz="300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658823"/>
            <a:ext cx="7772400" cy="1379169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Group </a:t>
            </a:r>
          </a:p>
          <a:p>
            <a:r>
              <a:rPr lang="en-US" dirty="0"/>
              <a:t>Class </a:t>
            </a:r>
          </a:p>
          <a:p>
            <a:r>
              <a:rPr lang="en-US" dirty="0"/>
              <a:t>Semester</a:t>
            </a:r>
          </a:p>
        </p:txBody>
      </p:sp>
      <p:sp>
        <p:nvSpPr>
          <p:cNvPr id="13" name="Footer Placeholder 4"/>
          <p:cNvSpPr txBox="1">
            <a:spLocks/>
          </p:cNvSpPr>
          <p:nvPr/>
        </p:nvSpPr>
        <p:spPr>
          <a:xfrm>
            <a:off x="3124200" y="0"/>
            <a:ext cx="28956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0" hasCustomPrompt="1"/>
          </p:nvPr>
        </p:nvSpPr>
        <p:spPr>
          <a:xfrm>
            <a:off x="120162" y="6512706"/>
            <a:ext cx="1752600" cy="256902"/>
          </a:xfrm>
        </p:spPr>
        <p:txBody>
          <a:bodyPr anchor="ctr">
            <a:noAutofit/>
          </a:bodyPr>
          <a:lstStyle>
            <a:lvl1pPr>
              <a:buNone/>
              <a:defRPr sz="1200" b="1"/>
            </a:lvl1pPr>
          </a:lstStyle>
          <a:p>
            <a:pPr lvl="0"/>
            <a:r>
              <a:rPr lang="en-US" dirty="0"/>
              <a:t>DD MMM YY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572000" y="5547947"/>
            <a:ext cx="4267200" cy="256902"/>
          </a:xfrm>
        </p:spPr>
        <p:txBody>
          <a:bodyPr anchor="ctr">
            <a:noAutofit/>
          </a:bodyPr>
          <a:lstStyle>
            <a:lvl1pPr algn="r">
              <a:buNone/>
              <a:defRPr sz="1800" b="1"/>
            </a:lvl1pPr>
          </a:lstStyle>
          <a:p>
            <a:pPr lvl="0"/>
            <a:r>
              <a:rPr lang="en-US" dirty="0"/>
              <a:t>Name(s)</a:t>
            </a:r>
          </a:p>
        </p:txBody>
      </p:sp>
      <p:pic>
        <p:nvPicPr>
          <p:cNvPr id="18" name="Picture 8" descr="mason_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486" y="820933"/>
            <a:ext cx="2471730" cy="1467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8539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 (Interio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27063" indent="-287338">
              <a:defRPr/>
            </a:lvl2pPr>
            <a:lvl3pPr marL="857250" indent="-230188">
              <a:defRPr/>
            </a:lvl3pPr>
            <a:lvl4pPr marL="1201738" indent="-287338">
              <a:defRPr/>
            </a:lvl4pPr>
            <a:lvl5pPr marL="1428750" indent="-227013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105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2 Content (Interio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82880" y="1143000"/>
            <a:ext cx="4312920" cy="5181600"/>
          </a:xfrm>
        </p:spPr>
        <p:txBody>
          <a:bodyPr/>
          <a:lstStyle>
            <a:lvl1pPr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5750" lvl="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285750" lvl="1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/>
              <a:t>Second level</a:t>
            </a:r>
          </a:p>
          <a:p>
            <a:pPr marL="285750" lvl="2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/>
              <a:t>Third level</a:t>
            </a:r>
          </a:p>
          <a:p>
            <a:pPr marL="285750" lvl="3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/>
              <a:t>Fourth level</a:t>
            </a:r>
          </a:p>
          <a:p>
            <a:pPr marL="285750" lvl="4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4724400" y="1143000"/>
            <a:ext cx="4236720" cy="5181600"/>
          </a:xfrm>
        </p:spPr>
        <p:txBody>
          <a:bodyPr/>
          <a:lstStyle>
            <a:lvl1pPr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5750" lvl="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285750" lvl="1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/>
              <a:t>Second level</a:t>
            </a:r>
          </a:p>
          <a:p>
            <a:pPr marL="285750" lvl="2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/>
              <a:t>Third level</a:t>
            </a:r>
          </a:p>
          <a:p>
            <a:pPr marL="285750" lvl="3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/>
              <a:t>Fourth level</a:t>
            </a:r>
          </a:p>
          <a:p>
            <a:pPr marL="285750" lvl="4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941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Interio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98032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1145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Metal Header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0" y="6443663"/>
            <a:ext cx="9144000" cy="41433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Metal Header.jpg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0" y="159182"/>
            <a:ext cx="9144000" cy="5365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52400"/>
            <a:ext cx="73152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099038"/>
            <a:ext cx="877824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lvl="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285750" lvl="1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/>
              <a:t>Second level</a:t>
            </a:r>
          </a:p>
          <a:p>
            <a:pPr marL="285750" lvl="2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/>
              <a:t>Third level</a:t>
            </a:r>
          </a:p>
          <a:p>
            <a:pPr marL="285750" lvl="3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/>
              <a:t>Fourth level</a:t>
            </a:r>
          </a:p>
          <a:p>
            <a:pPr marL="285750" lvl="4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4"/>
          <p:cNvSpPr txBox="1">
            <a:spLocks/>
          </p:cNvSpPr>
          <p:nvPr/>
        </p:nvSpPr>
        <p:spPr>
          <a:xfrm>
            <a:off x="8084234" y="6574631"/>
            <a:ext cx="9144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D80DC-0334-41D2-B532-92124DB82AAF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" name="Picture 8" descr="mason_logo.pn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5211" y="111557"/>
            <a:ext cx="955429" cy="567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6694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7" r:id="rId5"/>
  </p:sldLayoutIdLst>
  <p:txStyles>
    <p:titleStyle>
      <a:lvl1pPr algn="l" defTabSz="914400" rtl="0" eaLnBrk="1" latinLnBrk="0" hangingPunct="1">
        <a:spcBef>
          <a:spcPct val="0"/>
        </a:spcBef>
        <a:buNone/>
        <a:defRPr sz="20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7013" indent="-227013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27063" indent="-287338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230188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1738" indent="-287338" algn="l" defTabSz="914400" rtl="0" eaLnBrk="1" latinLnBrk="0" hangingPunct="1">
        <a:spcBef>
          <a:spcPct val="20000"/>
        </a:spcBef>
        <a:buFont typeface="Arial" pitchFamily="34" charset="0"/>
        <a:buChar char="–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28750" indent="-227013" algn="l" defTabSz="914400" rtl="0" eaLnBrk="1" latinLnBrk="0" hangingPunct="1">
        <a:spcBef>
          <a:spcPct val="20000"/>
        </a:spcBef>
        <a:buFont typeface="Arial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819400"/>
            <a:ext cx="7772400" cy="763555"/>
          </a:xfrm>
        </p:spPr>
        <p:txBody>
          <a:bodyPr>
            <a:normAutofit fontScale="90000"/>
          </a:bodyPr>
          <a:lstStyle/>
          <a:p>
            <a:r>
              <a:rPr lang="en-US" dirty="0"/>
              <a:t>System Identification of a DC Servo Motor Using ARX and ARMAX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ECE 621</a:t>
            </a:r>
          </a:p>
          <a:p>
            <a:r>
              <a:rPr lang="en-US" dirty="0"/>
              <a:t>Spring 2022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Nathaniel Wooley</a:t>
            </a:r>
          </a:p>
        </p:txBody>
      </p:sp>
    </p:spTree>
    <p:extLst>
      <p:ext uri="{BB962C8B-B14F-4D97-AF65-F5344CB8AC3E}">
        <p14:creationId xmlns:p14="http://schemas.microsoft.com/office/powerpoint/2010/main" val="3696214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4591051" y="874350"/>
            <a:ext cx="4468973" cy="5232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/>
            <a:r>
              <a:rPr lang="en-US" sz="1400" b="1" u="sng" baseline="0" dirty="0"/>
              <a:t>Objectives:</a:t>
            </a:r>
            <a:r>
              <a:rPr lang="en-US" sz="1200" b="1" i="1" u="sng" baseline="0" dirty="0"/>
              <a:t> </a:t>
            </a:r>
          </a:p>
          <a:p>
            <a:pPr marL="457200" indent="-457200"/>
            <a:r>
              <a:rPr lang="en-US" sz="1400" baseline="0" dirty="0"/>
              <a:t>To apply system identification to a DC Servo motor to</a:t>
            </a:r>
          </a:p>
          <a:p>
            <a:pPr marL="457200" indent="-457200"/>
            <a:r>
              <a:rPr lang="en-US" sz="1400" baseline="0" dirty="0"/>
              <a:t>produce a mathematical model of the system using</a:t>
            </a:r>
          </a:p>
          <a:p>
            <a:pPr marL="457200" indent="-457200"/>
            <a:r>
              <a:rPr lang="en-US" sz="1400" baseline="0" dirty="0"/>
              <a:t>experimental data</a:t>
            </a:r>
            <a:r>
              <a:rPr lang="en-US" sz="1200" baseline="0" dirty="0"/>
              <a:t>.</a:t>
            </a:r>
            <a:endParaRPr lang="en-US" sz="1200" b="1" u="sng" baseline="0" dirty="0"/>
          </a:p>
          <a:p>
            <a:pPr marL="457200" indent="-457200"/>
            <a:endParaRPr lang="en-US" sz="1400" b="1" u="sng" baseline="0" dirty="0"/>
          </a:p>
          <a:p>
            <a:pPr marL="457200" indent="-457200"/>
            <a:r>
              <a:rPr lang="en-US" sz="1400" b="1" u="sng" baseline="0" dirty="0"/>
              <a:t>Expected Results:</a:t>
            </a:r>
          </a:p>
          <a:p>
            <a:pPr marL="457200" indent="-457200"/>
            <a:r>
              <a:rPr lang="en-US" sz="1400" baseline="0" dirty="0"/>
              <a:t>To produce a model of the selected motor that will</a:t>
            </a:r>
          </a:p>
          <a:p>
            <a:pPr marL="457200" indent="-457200"/>
            <a:r>
              <a:rPr lang="en-US" sz="1400" baseline="0" dirty="0"/>
              <a:t>predict the outputs of the analyzed system with an</a:t>
            </a:r>
          </a:p>
          <a:p>
            <a:pPr marL="457200" indent="-457200"/>
            <a:r>
              <a:rPr lang="en-US" sz="1400" baseline="0" dirty="0"/>
              <a:t>accuracy of 90% or greater.</a:t>
            </a:r>
          </a:p>
          <a:p>
            <a:pPr marL="457200" indent="-457200"/>
            <a:endParaRPr lang="en-US" sz="1400" b="1" u="sng" baseline="0" dirty="0"/>
          </a:p>
          <a:p>
            <a:pPr marL="457200" indent="-457200"/>
            <a:r>
              <a:rPr lang="en-US" sz="1400" b="1" u="sng" baseline="0" dirty="0"/>
              <a:t>Relevance for the Professionals:</a:t>
            </a:r>
            <a:r>
              <a:rPr lang="en-US" sz="1400" b="1" i="1" u="sng" baseline="0" dirty="0"/>
              <a:t> </a:t>
            </a:r>
          </a:p>
          <a:p>
            <a:pPr marL="457200" indent="-457200"/>
            <a:r>
              <a:rPr lang="en-US" sz="1400" baseline="0" dirty="0"/>
              <a:t>Creating a reliable method to accurately simulate the</a:t>
            </a:r>
          </a:p>
          <a:p>
            <a:pPr marL="457200" indent="-457200"/>
            <a:r>
              <a:rPr lang="en-US" sz="1400" baseline="0" dirty="0"/>
              <a:t>behavior of a DC servo motor provides great</a:t>
            </a:r>
          </a:p>
          <a:p>
            <a:pPr marL="457200" indent="-457200"/>
            <a:r>
              <a:rPr lang="en-US" sz="1400" baseline="0" dirty="0"/>
              <a:t>utility for implementation in simulations and high</a:t>
            </a:r>
          </a:p>
          <a:p>
            <a:pPr marL="457200" indent="-457200"/>
            <a:r>
              <a:rPr lang="en-US" sz="1400" baseline="0" dirty="0"/>
              <a:t>precision control loops.</a:t>
            </a:r>
          </a:p>
          <a:p>
            <a:pPr marL="457200" indent="-457200"/>
            <a:endParaRPr lang="en-US" sz="1400" b="1" i="1" u="sng" baseline="0" dirty="0"/>
          </a:p>
          <a:p>
            <a:pPr marL="457200" indent="-457200"/>
            <a:endParaRPr lang="en-US" sz="1400" b="1" i="1" u="sng" baseline="0" dirty="0"/>
          </a:p>
          <a:p>
            <a:pPr marL="457200" indent="-457200"/>
            <a:r>
              <a:rPr lang="en-US" sz="1400" b="1" u="sng" baseline="0" dirty="0"/>
              <a:t>Next Steps:</a:t>
            </a:r>
          </a:p>
          <a:p>
            <a:pPr marL="457200" indent="-457200"/>
            <a:r>
              <a:rPr lang="en-US" sz="1400" baseline="0" dirty="0"/>
              <a:t>Explore modeling different types of motors and apply this model in robotic simulations.</a:t>
            </a:r>
          </a:p>
          <a:p>
            <a:pPr marL="457200" indent="-457200"/>
            <a:endParaRPr lang="en-US" sz="1400" b="1" i="1" u="sng" baseline="0" dirty="0"/>
          </a:p>
          <a:p>
            <a:pPr marL="457200" indent="-457200"/>
            <a:endParaRPr lang="en-US" sz="1400" b="1" i="1" u="sng" baseline="0" dirty="0"/>
          </a:p>
          <a:p>
            <a:pPr marL="457200" indent="-457200"/>
            <a:endParaRPr lang="en-US" sz="1400" b="1" i="1" u="sng" baseline="0" dirty="0"/>
          </a:p>
          <a:p>
            <a:pPr marL="457200" indent="-457200"/>
            <a:endParaRPr lang="en-US" sz="1200" b="1" i="1" baseline="0" dirty="0"/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247002" y="3631990"/>
            <a:ext cx="150201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 u="sng" baseline="0" dirty="0">
                <a:solidFill>
                  <a:srgbClr val="000000"/>
                </a:solidFill>
              </a:rPr>
              <a:t>Project Schedule </a:t>
            </a:r>
            <a:endParaRPr lang="en-US" sz="1400" b="1" u="sng" baseline="0" dirty="0">
              <a:solidFill>
                <a:srgbClr val="DDDDDD"/>
              </a:solidFill>
              <a:latin typeface="Times New Roman" pitchFamily="18" charset="0"/>
            </a:endParaRPr>
          </a:p>
        </p:txBody>
      </p:sp>
      <p:sp>
        <p:nvSpPr>
          <p:cNvPr id="4110" name="Text Box 14"/>
          <p:cNvSpPr txBox="1">
            <a:spLocks noChangeArrowheads="1"/>
          </p:cNvSpPr>
          <p:nvPr/>
        </p:nvSpPr>
        <p:spPr bwMode="auto">
          <a:xfrm>
            <a:off x="998009" y="817165"/>
            <a:ext cx="914033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i="1" baseline="0" dirty="0"/>
              <a:t>System</a:t>
            </a:r>
          </a:p>
        </p:txBody>
      </p:sp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0" y="218202"/>
            <a:ext cx="7987003" cy="406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i="1" baseline="0" dirty="0">
                <a:solidFill>
                  <a:schemeClr val="bg2"/>
                </a:solidFill>
                <a:latin typeface="+mn-lt"/>
              </a:rPr>
              <a:t>System Identification of a DC Servo Motor</a:t>
            </a: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4591050" y="681442"/>
            <a:ext cx="1" cy="58033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0" y="3524375"/>
            <a:ext cx="457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394EBFB-1AD7-4CA5-8006-B9BF4A3BE3BC}"/>
              </a:ext>
            </a:extLst>
          </p:cNvPr>
          <p:cNvSpPr txBox="1"/>
          <p:nvPr/>
        </p:nvSpPr>
        <p:spPr>
          <a:xfrm>
            <a:off x="148923" y="3846891"/>
            <a:ext cx="4143157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aseline="0" dirty="0">
                <a:solidFill>
                  <a:srgbClr val="000000"/>
                </a:solidFill>
              </a:rPr>
              <a:t>Data Collection: 3/15	Model Development: 4/20 Report &amp; Presentation: 5/1</a:t>
            </a:r>
          </a:p>
          <a:p>
            <a:pPr>
              <a:spcBef>
                <a:spcPct val="50000"/>
              </a:spcBef>
            </a:pPr>
            <a:r>
              <a:rPr lang="en-US" sz="1400" b="1" u="sng" baseline="0" dirty="0">
                <a:solidFill>
                  <a:srgbClr val="000000"/>
                </a:solidFill>
              </a:rPr>
              <a:t>Project Cost</a:t>
            </a:r>
          </a:p>
          <a:p>
            <a:pPr>
              <a:spcBef>
                <a:spcPct val="50000"/>
              </a:spcBef>
            </a:pPr>
            <a:r>
              <a:rPr lang="en-US" sz="1400" baseline="0" dirty="0">
                <a:solidFill>
                  <a:srgbClr val="000000"/>
                </a:solidFill>
              </a:rPr>
              <a:t>Arduino: 		$ 25</a:t>
            </a:r>
            <a:br>
              <a:rPr lang="en-US" sz="1400" baseline="0" dirty="0">
                <a:solidFill>
                  <a:srgbClr val="000000"/>
                </a:solidFill>
              </a:rPr>
            </a:br>
            <a:r>
              <a:rPr lang="en-US" sz="1400" baseline="0" dirty="0">
                <a:solidFill>
                  <a:srgbClr val="000000"/>
                </a:solidFill>
              </a:rPr>
              <a:t>Servo Motor:	$ 5</a:t>
            </a:r>
            <a:br>
              <a:rPr lang="en-US" sz="1400" baseline="0" dirty="0">
                <a:solidFill>
                  <a:srgbClr val="000000"/>
                </a:solidFill>
              </a:rPr>
            </a:br>
            <a:r>
              <a:rPr lang="en-US" sz="1400" baseline="0" dirty="0">
                <a:solidFill>
                  <a:srgbClr val="000000"/>
                </a:solidFill>
              </a:rPr>
              <a:t>Potentiometer:	$ 1</a:t>
            </a:r>
            <a:br>
              <a:rPr lang="en-US" sz="1400" baseline="0" dirty="0">
                <a:solidFill>
                  <a:srgbClr val="000000"/>
                </a:solidFill>
              </a:rPr>
            </a:br>
            <a:r>
              <a:rPr lang="en-US" sz="1400" baseline="0" dirty="0">
                <a:solidFill>
                  <a:srgbClr val="000000"/>
                </a:solidFill>
              </a:rPr>
              <a:t>Time: 30 @ $10/</a:t>
            </a:r>
            <a:r>
              <a:rPr lang="en-US" sz="1400" baseline="0" dirty="0" err="1">
                <a:solidFill>
                  <a:srgbClr val="000000"/>
                </a:solidFill>
              </a:rPr>
              <a:t>hr</a:t>
            </a:r>
            <a:r>
              <a:rPr lang="en-US" sz="1400" baseline="0" dirty="0">
                <a:solidFill>
                  <a:srgbClr val="000000"/>
                </a:solidFill>
              </a:rPr>
              <a:t>	$ 300</a:t>
            </a:r>
          </a:p>
          <a:p>
            <a:pPr>
              <a:spcBef>
                <a:spcPct val="50000"/>
              </a:spcBef>
            </a:pPr>
            <a:r>
              <a:rPr lang="en-US" sz="1400" baseline="0" dirty="0">
                <a:solidFill>
                  <a:srgbClr val="000000"/>
                </a:solidFill>
              </a:rPr>
              <a:t>Total Cost:		$ 331</a:t>
            </a:r>
          </a:p>
          <a:p>
            <a:pPr>
              <a:spcBef>
                <a:spcPct val="50000"/>
              </a:spcBef>
            </a:pPr>
            <a:endParaRPr lang="en-US" sz="1400" baseline="0" dirty="0">
              <a:solidFill>
                <a:srgbClr val="000000"/>
              </a:solidFill>
            </a:endParaRPr>
          </a:p>
          <a:p>
            <a:pPr>
              <a:spcBef>
                <a:spcPct val="50000"/>
              </a:spcBef>
            </a:pPr>
            <a:endParaRPr lang="en-US" sz="1400" baseline="0" dirty="0"/>
          </a:p>
        </p:txBody>
      </p:sp>
      <p:pic>
        <p:nvPicPr>
          <p:cNvPr id="14" name="Picture 13" descr="A picture containing text, electronics&#10;&#10;Description automatically generated">
            <a:extLst>
              <a:ext uri="{FF2B5EF4-FFF2-40B4-BE49-F238E27FC236}">
                <a16:creationId xmlns:a16="http://schemas.microsoft.com/office/drawing/2014/main" id="{CD0030F6-57E2-47F3-89FC-A7715F795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126" y="839368"/>
            <a:ext cx="2401517" cy="1530605"/>
          </a:xfrm>
          <a:prstGeom prst="rect">
            <a:avLst/>
          </a:prstGeom>
        </p:spPr>
      </p:pic>
      <p:sp>
        <p:nvSpPr>
          <p:cNvPr id="15" name="Text Box 14">
            <a:extLst>
              <a:ext uri="{FF2B5EF4-FFF2-40B4-BE49-F238E27FC236}">
                <a16:creationId xmlns:a16="http://schemas.microsoft.com/office/drawing/2014/main" id="{B5BD5B42-F51F-440C-A846-B275602A6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0352" y="3032583"/>
            <a:ext cx="628698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i="1" baseline="0" dirty="0"/>
              <a:t>Data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C7B9BC-6AEF-48C1-A861-024C7FBFD6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8305" y="1563643"/>
            <a:ext cx="2694223" cy="2019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400" b="1" dirty="0">
                <a:latin typeface="+mn-lt"/>
              </a:rPr>
              <a:t>Technical Approach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83F985-9FD4-4242-A916-BC21F83CD60F}"/>
              </a:ext>
            </a:extLst>
          </p:cNvPr>
          <p:cNvSpPr txBox="1"/>
          <p:nvPr/>
        </p:nvSpPr>
        <p:spPr>
          <a:xfrm>
            <a:off x="404327" y="1318727"/>
            <a:ext cx="2917371" cy="418011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Chose an approach similar to the source paper, with the exception of data collection.</a:t>
            </a:r>
          </a:p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baseline="0" dirty="0">
                <a:latin typeface="+mn-lt"/>
                <a:ea typeface="+mn-ea"/>
              </a:rPr>
              <a:t>Iterative approach with multiple inputs, multiple test data sets and different model structures led to many different estimations that while similar, yielded different result.</a:t>
            </a:r>
          </a:p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Prediction Error Method yielded more refined results.</a:t>
            </a:r>
          </a:p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MATLAB System Identification Toolbox utilized for parameter estimation.</a:t>
            </a:r>
          </a:p>
        </p:txBody>
      </p:sp>
      <p:pic>
        <p:nvPicPr>
          <p:cNvPr id="15" name="Picture 14" descr="Diagram&#10;&#10;Description automatically generated">
            <a:extLst>
              <a:ext uri="{FF2B5EF4-FFF2-40B4-BE49-F238E27FC236}">
                <a16:creationId xmlns:a16="http://schemas.microsoft.com/office/drawing/2014/main" id="{8DD1BE7D-02A0-4D54-9247-DB322EAA2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92" y="4564127"/>
            <a:ext cx="3762375" cy="16859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9D1DBC-09B1-4F72-88E7-DCD4BAFE0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792" y="1318727"/>
            <a:ext cx="4709514" cy="35635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77554"/>
            <a:ext cx="8170517" cy="506028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sz="2400" b="1" dirty="0">
                <a:latin typeface="+mn-lt"/>
              </a:rPr>
              <a:t>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596D2D0-11F2-4D78-B202-9CE263FFC8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86" y="811545"/>
            <a:ext cx="3786447" cy="2839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3E516C-928C-4ABC-9832-1AC8E97B06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815" y="3607838"/>
            <a:ext cx="3713719" cy="278363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C8FFEF-18E1-45BC-BB6A-CDD6C0553348}"/>
              </a:ext>
            </a:extLst>
          </p:cNvPr>
          <p:cNvSpPr txBox="1"/>
          <p:nvPr/>
        </p:nvSpPr>
        <p:spPr>
          <a:xfrm>
            <a:off x="491412" y="1175657"/>
            <a:ext cx="4024604" cy="441649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99CD3E-6126-48FA-B953-6086F6ADFBFF}"/>
              </a:ext>
            </a:extLst>
          </p:cNvPr>
          <p:cNvSpPr txBox="1"/>
          <p:nvPr/>
        </p:nvSpPr>
        <p:spPr>
          <a:xfrm>
            <a:off x="279918" y="1007706"/>
            <a:ext cx="4940167" cy="481459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Created and tested over 20 different systems, similar to the source paper.</a:t>
            </a:r>
          </a:p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800" baseline="0" dirty="0">
                <a:latin typeface="+mn-lt"/>
                <a:ea typeface="+mn-ea"/>
              </a:rPr>
              <a:t>Noise in the system output didn’t plan a large role in the estimations.</a:t>
            </a:r>
          </a:p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</a:pPr>
            <a:endParaRPr lang="en-US" sz="1800" baseline="0" dirty="0">
              <a:latin typeface="+mn-lt"/>
              <a:ea typeface="+mn-ea"/>
            </a:endParaRPr>
          </a:p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800" baseline="0" dirty="0">
                <a:latin typeface="+mn-lt"/>
                <a:ea typeface="+mn-ea"/>
              </a:rPr>
              <a:t>Able to get every system estimated over 80% accuracy when compared to system outputs.  Some estimations able to achieve over 94% accuracy when estimating in the best-case scenarios.</a:t>
            </a:r>
          </a:p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</a:pPr>
            <a:endParaRPr lang="en-US" sz="1800" baseline="0" dirty="0">
              <a:latin typeface="+mn-lt"/>
              <a:ea typeface="+mn-ea"/>
            </a:endParaRPr>
          </a:p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800" baseline="0" dirty="0">
                <a:latin typeface="+mn-lt"/>
                <a:ea typeface="+mn-ea"/>
              </a:rPr>
              <a:t>ARX model estimations usually more accurate than ARMAX model estimations.</a:t>
            </a:r>
          </a:p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0" y="212599"/>
            <a:ext cx="787840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baseline="0" dirty="0">
                <a:solidFill>
                  <a:schemeClr val="bg1"/>
                </a:solidFill>
                <a:latin typeface="+mj-lt"/>
              </a:rPr>
              <a:t>Issues or Concerns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895350" y="1300163"/>
            <a:ext cx="184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Models with the highest accuracy also had the highest final prediction error.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ARX with Sinusoid Input: Best Fit %: 94.505% FPE:  7.766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 clear ‘best’ model due to best fit percentage and final prediction error not agreeing.</a:t>
            </a:r>
          </a:p>
        </p:txBody>
      </p:sp>
    </p:spTree>
  </p:cSld>
  <p:clrMapOvr>
    <a:masterClrMapping/>
  </p:clrMapOvr>
  <p:transition advTm="5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0" y="212599"/>
            <a:ext cx="787840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baseline="0" dirty="0">
                <a:solidFill>
                  <a:schemeClr val="bg1"/>
                </a:solidFill>
                <a:latin typeface="+mj-lt"/>
              </a:rPr>
              <a:t>Summary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895350" y="1300163"/>
            <a:ext cx="184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created over 32 individual models that all achieved accuracy over 80%, and four that achieved an accuracy of 94% accuracy.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Tested the created models against independent test data to get unbiased performance metrics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Explored other model structures, such as IV4 – a four stage instrumental variable method but found that ARX and ARMAX were consistently the more effective options.</a:t>
            </a:r>
          </a:p>
        </p:txBody>
      </p:sp>
    </p:spTree>
    <p:extLst>
      <p:ext uri="{BB962C8B-B14F-4D97-AF65-F5344CB8AC3E}">
        <p14:creationId xmlns:p14="http://schemas.microsoft.com/office/powerpoint/2010/main" val="59772975"/>
      </p:ext>
    </p:extLst>
  </p:cSld>
  <p:clrMapOvr>
    <a:masterClrMapping/>
  </p:clrMapOvr>
  <p:transition advTm="5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400" b="1" dirty="0"/>
              <a:t>References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5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S. </a:t>
            </a:r>
            <a:r>
              <a:rPr lang="en-US" sz="15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Mokhlis</a:t>
            </a:r>
            <a:r>
              <a:rPr lang="en-US" sz="15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S. </a:t>
            </a:r>
            <a:r>
              <a:rPr lang="en-US" sz="15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Sadki</a:t>
            </a:r>
            <a:r>
              <a:rPr lang="en-US" sz="15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and B. </a:t>
            </a:r>
            <a:r>
              <a:rPr lang="en-US" sz="15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Bensassi</a:t>
            </a:r>
            <a:r>
              <a:rPr lang="en-US" sz="15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"System Identification of a DC Servo Motor Using ARX and ARMAX Models," 2019 International Conference on Systems of Collaboration Big Data, Internet of Things &amp; Security (</a:t>
            </a:r>
            <a:r>
              <a:rPr lang="en-US" sz="15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SysCoBIoTS</a:t>
            </a:r>
            <a:r>
              <a:rPr lang="en-US" sz="15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), 2019</a:t>
            </a:r>
          </a:p>
          <a:p>
            <a:pPr marL="0" indent="0">
              <a:buNone/>
            </a:pPr>
            <a:endParaRPr lang="en-US" sz="15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dirty="0">
                <a:effectLst/>
              </a:rPr>
              <a:t>“System identification toolbox,” </a:t>
            </a:r>
            <a:r>
              <a:rPr lang="en-US" sz="1500" i="1" dirty="0">
                <a:effectLst/>
              </a:rPr>
              <a:t>MATLAB</a:t>
            </a:r>
            <a:r>
              <a:rPr lang="en-US" sz="1500" dirty="0">
                <a:effectLst/>
              </a:rPr>
              <a:t>. [Online]. Available: https://www.mathworks.com/products/sysid.html.</a:t>
            </a:r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 Official Use Only">
  <a:themeElements>
    <a:clrScheme name="AMC Color Scheme">
      <a:dk1>
        <a:srgbClr val="000000"/>
      </a:dk1>
      <a:lt1>
        <a:sysClr val="window" lastClr="FFFFFF"/>
      </a:lt1>
      <a:dk2>
        <a:srgbClr val="004990"/>
      </a:dk2>
      <a:lt2>
        <a:srgbClr val="EEECE1"/>
      </a:lt2>
      <a:accent1>
        <a:srgbClr val="6D6E70"/>
      </a:accent1>
      <a:accent2>
        <a:srgbClr val="C41230"/>
      </a:accent2>
      <a:accent3>
        <a:srgbClr val="001CA8"/>
      </a:accent3>
      <a:accent4>
        <a:srgbClr val="60390B"/>
      </a:accent4>
      <a:accent5>
        <a:srgbClr val="BCBEC0"/>
      </a:accent5>
      <a:accent6>
        <a:srgbClr val="DC291E"/>
      </a:accent6>
      <a:hlink>
        <a:srgbClr val="001CA8"/>
      </a:hlink>
      <a:folHlink>
        <a:srgbClr val="000000"/>
      </a:folHlink>
    </a:clrScheme>
    <a:fontScheme name="AMC Default">
      <a:majorFont>
        <a:latin typeface="Arial 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shade val="30000"/>
                <a:satMod val="115000"/>
              </a:schemeClr>
            </a:gs>
            <a:gs pos="50000">
              <a:schemeClr val="accent1">
                <a:shade val="67500"/>
                <a:satMod val="115000"/>
              </a:schemeClr>
            </a:gs>
            <a:gs pos="100000">
              <a:schemeClr val="accent1">
                <a:shade val="100000"/>
                <a:satMod val="115000"/>
              </a:schemeClr>
            </a:gs>
          </a:gsLst>
          <a:lin ang="16200000" scaled="1"/>
          <a:tileRect/>
        </a:gradFill>
        <a:ln w="6350">
          <a:solidFill>
            <a:schemeClr val="tx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 anchor="t">
        <a:no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ct val="20000"/>
          </a:spcBef>
          <a:spcAft>
            <a:spcPts val="0"/>
          </a:spcAft>
          <a:buClrTx/>
          <a:buSzTx/>
          <a:buFont typeface="Wingdings" pitchFamily="2" charset="2"/>
          <a:buNone/>
          <a:tabLst/>
          <a:defRPr kumimoji="0" sz="110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CERDEC PowerPoint Template</Template>
  <TotalTime>213</TotalTime>
  <Words>505</Words>
  <Application>Microsoft Office PowerPoint</Application>
  <PresentationFormat>On-screen Show (4:3)</PresentationFormat>
  <Paragraphs>62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Bold</vt:lpstr>
      <vt:lpstr>Times New Roman</vt:lpstr>
      <vt:lpstr>For Official Use Only</vt:lpstr>
      <vt:lpstr>System Identification of a DC Servo Motor Using ARX and ARMAX Models</vt:lpstr>
      <vt:lpstr>PowerPoint Presentation</vt:lpstr>
      <vt:lpstr>Technical Approach</vt:lpstr>
      <vt:lpstr>Results</vt:lpstr>
      <vt:lpstr>PowerPoint Presentation</vt:lpstr>
      <vt:lpstr>PowerPoint Presentation</vt:lpstr>
      <vt:lpstr>References</vt:lpstr>
    </vt:vector>
  </TitlesOfParts>
  <Company>US Army, CECOM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HQ</dc:creator>
  <cp:lastModifiedBy>Nate W</cp:lastModifiedBy>
  <cp:revision>38</cp:revision>
  <dcterms:created xsi:type="dcterms:W3CDTF">2007-08-17T14:15:42Z</dcterms:created>
  <dcterms:modified xsi:type="dcterms:W3CDTF">2022-05-02T04:27:16Z</dcterms:modified>
</cp:coreProperties>
</file>